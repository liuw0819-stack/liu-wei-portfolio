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1371600"/>
            <a:ext cx="6400800" cy="6400800"/>
          </a:xfrm>
          <a:prstGeom prst="ellipse">
            <a:avLst/>
          </a:prstGeom>
          <a:solidFill>
            <a:srgbClr val="0D2A6E">
              <a:alpha val="30000"/>
            </a:srgbClr>
          </a:solidFill>
          <a:ln w="12700">
            <a:solidFill>
              <a:srgbClr val="0D2A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0" y="-731520"/>
            <a:ext cx="4572000" cy="4572000"/>
          </a:xfrm>
          <a:prstGeom prst="ellipse">
            <a:avLst/>
          </a:prstGeom>
          <a:solidFill>
            <a:srgbClr val="2563EB">
              <a:alpha val="12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21208" y="1280160"/>
            <a:ext cx="7315" cy="2011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548640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0F0F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刘威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4572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kern="0" spc="800" dirty="0">
                <a:solidFill>
                  <a:srgbClr val="888888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LIU WEI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6400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563EB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Product Manager  ·  GTM Expert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5029200" cy="13716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401568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563EB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9年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31520" y="3822192"/>
            <a:ext cx="24688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工作经验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91840" y="3401568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563EB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¥10亿+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291840" y="3822192"/>
            <a:ext cx="24688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冈本累计销售额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852160" y="3401568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563EB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30+款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852160" y="3822192"/>
            <a:ext cx="24688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成功上市产品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412480" y="3401568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563EB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N1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412480" y="3822192"/>
            <a:ext cx="24688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日语级别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A0A0A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6355080"/>
            <a:ext cx="114117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深圳  ·  13810359882  ·  89408048@qq.com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141171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444444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关于我  /  ABOUT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12064"/>
            <a:ext cx="11411712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0F0F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从产品概念到市场爆款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11411712" cy="10973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98448"/>
            <a:ext cx="7313371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888888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拥有9年消费品产品开发与GTM上市经验，专注于成人健康、功能食品、日化等多品类。曾主导冈本品牌避孕套、情趣玩具、润滑液等多款超级爆品，冈本业务线累计销售额超10亿元+。日语N1，深谙中日供应链运营。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377440"/>
            <a:ext cx="1627505" cy="586105"/>
          </a:xfrm>
          <a:prstGeom prst="rect">
            <a:avLst/>
          </a:prstGeom>
          <a:solidFill>
            <a:srgbClr val="2563EB">
              <a:alpha val="2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377440"/>
            <a:ext cx="76200" cy="59563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377440"/>
            <a:ext cx="1562735" cy="5861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F0F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GTM战略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668905" y="2367915"/>
            <a:ext cx="1627505" cy="586105"/>
          </a:xfrm>
          <a:prstGeom prst="rect">
            <a:avLst/>
          </a:prstGeom>
          <a:solidFill>
            <a:srgbClr val="1D4ED8">
              <a:alpha val="2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68905" y="2367915"/>
            <a:ext cx="76200" cy="59563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60345" y="2367915"/>
            <a:ext cx="1562735" cy="5861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F0F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供应链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834890" y="2377440"/>
            <a:ext cx="1627505" cy="586105"/>
          </a:xfrm>
          <a:prstGeom prst="rect">
            <a:avLst/>
          </a:prstGeom>
          <a:solidFill>
            <a:srgbClr val="1E40AF">
              <a:alpha val="2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34890" y="2377440"/>
            <a:ext cx="76200" cy="59563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26330" y="2377440"/>
            <a:ext cx="1562735" cy="5861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F0F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数据洞察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000875" y="2367915"/>
            <a:ext cx="1627505" cy="586105"/>
          </a:xfrm>
          <a:prstGeom prst="rect">
            <a:avLst/>
          </a:prstGeom>
          <a:solidFill>
            <a:srgbClr val="1E3A8A">
              <a:alpha val="2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00875" y="2367915"/>
            <a:ext cx="76200" cy="59563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92315" y="2367915"/>
            <a:ext cx="1562735" cy="5861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F0F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跨文化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02920" y="3401568"/>
            <a:ext cx="11411712" cy="10973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511296"/>
            <a:ext cx="1141171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444444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教育背景  /  EDUCATION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02920" y="3749040"/>
            <a:ext cx="36576" cy="640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749040"/>
            <a:ext cx="45720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0F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广岛修道大学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" y="406908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経済学部  ·  经济学部  ·  日本留学7年</a:t>
            </a:r>
            <a:endParaRPr lang="en-US" sz="1000" dirty="0"/>
          </a:p>
        </p:txBody>
      </p:sp>
      <p:grpSp>
        <p:nvGrpSpPr>
          <p:cNvPr id="36" name="组合 35"/>
          <p:cNvGrpSpPr/>
          <p:nvPr/>
        </p:nvGrpSpPr>
        <p:grpSpPr>
          <a:xfrm>
            <a:off x="9337040" y="1218565"/>
            <a:ext cx="2560320" cy="4206240"/>
            <a:chOff x="14587" y="720"/>
            <a:chExt cx="4032" cy="6624"/>
          </a:xfrm>
        </p:grpSpPr>
        <p:sp>
          <p:nvSpPr>
            <p:cNvPr id="24" name="Shape 22"/>
            <p:cNvSpPr/>
            <p:nvPr/>
          </p:nvSpPr>
          <p:spPr>
            <a:xfrm>
              <a:off x="14587" y="720"/>
              <a:ext cx="4032" cy="6624"/>
            </a:xfrm>
            <a:prstGeom prst="rect">
              <a:avLst/>
            </a:prstGeom>
            <a:solidFill>
              <a:srgbClr val="0C0C0C"/>
            </a:solidFill>
            <a:ln w="12700">
              <a:solidFill>
                <a:srgbClr val="181818"/>
              </a:solidFill>
              <a:prstDash val="solid"/>
            </a:ln>
          </p:spPr>
        </p:sp>
        <p:sp>
          <p:nvSpPr>
            <p:cNvPr id="25" name="Text 23"/>
            <p:cNvSpPr/>
            <p:nvPr/>
          </p:nvSpPr>
          <p:spPr>
            <a:xfrm>
              <a:off x="14875" y="936"/>
              <a:ext cx="3600" cy="749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600" b="1" dirty="0">
                  <a:solidFill>
                    <a:srgbClr val="2563EB"/>
                  </a:solidFill>
                  <a:latin typeface="Arial" panose="020B0704020202020204" pitchFamily="34" charset="0"/>
                  <a:ea typeface="Arial" panose="020B0704020202020204" pitchFamily="34" charset="-122"/>
                  <a:cs typeface="Arial" panose="020B0704020202020204" pitchFamily="34" charset="-120"/>
                </a:rPr>
                <a:t>9年</a:t>
              </a:r>
              <a:endParaRPr lang="en-US" sz="260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14875" y="1685"/>
              <a:ext cx="3600" cy="34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888888"/>
                  </a:solidFill>
                  <a:latin typeface="Arial" panose="020B0704020202020204" pitchFamily="34" charset="0"/>
                  <a:ea typeface="Arial" panose="020B0704020202020204" pitchFamily="34" charset="-122"/>
                  <a:cs typeface="Arial" panose="020B0704020202020204" pitchFamily="34" charset="-120"/>
                </a:rPr>
                <a:t>行业经验</a:t>
              </a:r>
              <a:endParaRPr lang="en-US" sz="900" dirty="0"/>
            </a:p>
          </p:txBody>
        </p:sp>
        <p:sp>
          <p:nvSpPr>
            <p:cNvPr id="27" name="Shape 25"/>
            <p:cNvSpPr/>
            <p:nvPr/>
          </p:nvSpPr>
          <p:spPr>
            <a:xfrm>
              <a:off x="15163" y="2117"/>
              <a:ext cx="2880" cy="14"/>
            </a:xfrm>
            <a:prstGeom prst="rect">
              <a:avLst/>
            </a:prstGeom>
            <a:solidFill>
              <a:srgbClr val="1E1E1E"/>
            </a:solidFill>
            <a:ln w="12700">
              <a:solidFill>
                <a:srgbClr val="1E1E1E"/>
              </a:solidFill>
              <a:prstDash val="solid"/>
            </a:ln>
          </p:spPr>
        </p:sp>
        <p:sp>
          <p:nvSpPr>
            <p:cNvPr id="28" name="Text 26"/>
            <p:cNvSpPr/>
            <p:nvPr/>
          </p:nvSpPr>
          <p:spPr>
            <a:xfrm>
              <a:off x="14875" y="2520"/>
              <a:ext cx="3600" cy="749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600" b="1" dirty="0">
                  <a:solidFill>
                    <a:srgbClr val="2563EB"/>
                  </a:solidFill>
                  <a:latin typeface="Arial" panose="020B0704020202020204" pitchFamily="34" charset="0"/>
                  <a:ea typeface="Arial" panose="020B0704020202020204" pitchFamily="34" charset="-122"/>
                  <a:cs typeface="Arial" panose="020B0704020202020204" pitchFamily="34" charset="-120"/>
                </a:rPr>
                <a:t>¥10亿+</a:t>
              </a:r>
              <a:endParaRPr lang="en-US" sz="2600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14875" y="3269"/>
              <a:ext cx="3600" cy="34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888888"/>
                  </a:solidFill>
                  <a:latin typeface="Arial" panose="020B0704020202020204" pitchFamily="34" charset="0"/>
                  <a:ea typeface="Arial" panose="020B0704020202020204" pitchFamily="34" charset="-122"/>
                  <a:cs typeface="Arial" panose="020B0704020202020204" pitchFamily="34" charset="-120"/>
                </a:rPr>
                <a:t>冈本业务销售额</a:t>
              </a:r>
              <a:endParaRPr lang="en-US" sz="900" dirty="0"/>
            </a:p>
          </p:txBody>
        </p:sp>
        <p:sp>
          <p:nvSpPr>
            <p:cNvPr id="30" name="Shape 28"/>
            <p:cNvSpPr/>
            <p:nvPr/>
          </p:nvSpPr>
          <p:spPr>
            <a:xfrm>
              <a:off x="15163" y="3701"/>
              <a:ext cx="2880" cy="14"/>
            </a:xfrm>
            <a:prstGeom prst="rect">
              <a:avLst/>
            </a:prstGeom>
            <a:solidFill>
              <a:srgbClr val="1E1E1E"/>
            </a:solidFill>
            <a:ln w="12700">
              <a:solidFill>
                <a:srgbClr val="1E1E1E"/>
              </a:solidFill>
              <a:prstDash val="solid"/>
            </a:ln>
          </p:spPr>
        </p:sp>
        <p:sp>
          <p:nvSpPr>
            <p:cNvPr id="31" name="Text 29"/>
            <p:cNvSpPr/>
            <p:nvPr/>
          </p:nvSpPr>
          <p:spPr>
            <a:xfrm>
              <a:off x="14875" y="4104"/>
              <a:ext cx="3600" cy="749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600" b="1" dirty="0">
                  <a:solidFill>
                    <a:srgbClr val="2563EB"/>
                  </a:solidFill>
                  <a:latin typeface="Arial" panose="020B0704020202020204" pitchFamily="34" charset="0"/>
                  <a:ea typeface="Arial" panose="020B0704020202020204" pitchFamily="34" charset="-122"/>
                  <a:cs typeface="Arial" panose="020B0704020202020204" pitchFamily="34" charset="-120"/>
                </a:rPr>
                <a:t>30+</a:t>
              </a:r>
              <a:endParaRPr lang="en-US" sz="2600" dirty="0"/>
            </a:p>
          </p:txBody>
        </p:sp>
        <p:sp>
          <p:nvSpPr>
            <p:cNvPr id="32" name="Text 30"/>
            <p:cNvSpPr/>
            <p:nvPr/>
          </p:nvSpPr>
          <p:spPr>
            <a:xfrm>
              <a:off x="14875" y="4853"/>
              <a:ext cx="3600" cy="34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888888"/>
                  </a:solidFill>
                  <a:latin typeface="Arial" panose="020B0704020202020204" pitchFamily="34" charset="0"/>
                  <a:ea typeface="Arial" panose="020B0704020202020204" pitchFamily="34" charset="-122"/>
                  <a:cs typeface="Arial" panose="020B0704020202020204" pitchFamily="34" charset="-120"/>
                </a:rPr>
                <a:t>成功上市产品</a:t>
              </a:r>
              <a:endParaRPr lang="en-US" sz="900" dirty="0"/>
            </a:p>
          </p:txBody>
        </p:sp>
        <p:sp>
          <p:nvSpPr>
            <p:cNvPr id="33" name="Shape 31"/>
            <p:cNvSpPr/>
            <p:nvPr/>
          </p:nvSpPr>
          <p:spPr>
            <a:xfrm>
              <a:off x="15163" y="5285"/>
              <a:ext cx="2880" cy="14"/>
            </a:xfrm>
            <a:prstGeom prst="rect">
              <a:avLst/>
            </a:prstGeom>
            <a:solidFill>
              <a:srgbClr val="1E1E1E"/>
            </a:solidFill>
            <a:ln w="12700">
              <a:solidFill>
                <a:srgbClr val="1E1E1E"/>
              </a:solidFill>
              <a:prstDash val="solid"/>
            </a:ln>
          </p:spPr>
        </p:sp>
        <p:sp>
          <p:nvSpPr>
            <p:cNvPr id="34" name="Text 32"/>
            <p:cNvSpPr/>
            <p:nvPr/>
          </p:nvSpPr>
          <p:spPr>
            <a:xfrm>
              <a:off x="14875" y="5688"/>
              <a:ext cx="3600" cy="749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600" b="1" dirty="0">
                  <a:solidFill>
                    <a:srgbClr val="2563EB"/>
                  </a:solidFill>
                  <a:latin typeface="Arial" panose="020B0704020202020204" pitchFamily="34" charset="0"/>
                  <a:ea typeface="Arial" panose="020B0704020202020204" pitchFamily="34" charset="-122"/>
                  <a:cs typeface="Arial" panose="020B0704020202020204" pitchFamily="34" charset="-120"/>
                </a:rPr>
                <a:t>N1</a:t>
              </a:r>
              <a:endParaRPr lang="en-US" sz="2600" dirty="0"/>
            </a:p>
          </p:txBody>
        </p:sp>
        <p:sp>
          <p:nvSpPr>
            <p:cNvPr id="35" name="Text 33"/>
            <p:cNvSpPr/>
            <p:nvPr/>
          </p:nvSpPr>
          <p:spPr>
            <a:xfrm>
              <a:off x="14875" y="6437"/>
              <a:ext cx="3600" cy="34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888888"/>
                  </a:solidFill>
                  <a:latin typeface="Arial" panose="020B0704020202020204" pitchFamily="34" charset="0"/>
                  <a:ea typeface="Arial" panose="020B0704020202020204" pitchFamily="34" charset="-122"/>
                  <a:cs typeface="Arial" panose="020B0704020202020204" pitchFamily="34" charset="-120"/>
                </a:rPr>
                <a:t>日语能力认证</a:t>
              </a:r>
              <a:endParaRPr lang="en-US" sz="900" dirty="0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141171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444444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工作经历  /  EXPERIENCE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0F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职业经历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67512" y="1024128"/>
            <a:ext cx="13716" cy="530352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2940" y="1124712"/>
            <a:ext cx="118872" cy="1188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051560"/>
            <a:ext cx="536295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广州虎牙信息科技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1307592"/>
            <a:ext cx="536295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产品经理  ·  2025.07 — 至今  ·  深圳·南山区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005840" y="1527048"/>
            <a:ext cx="4558513" cy="9144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581912"/>
            <a:ext cx="5362956" cy="1261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spcAft>
                <a:spcPts val="300"/>
              </a:spcAft>
            </a:pPr>
            <a:r>
              <a:rPr lang="en-US" sz="900" dirty="0">
                <a:solidFill>
                  <a:srgbClr val="888888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负责新业务线成人用品类目市场调研，完成行业研究报告</a:t>
            </a:r>
            <a:endParaRPr lang="en-US" sz="900" dirty="0"/>
          </a:p>
          <a:p>
            <a:pPr>
              <a:spcAft>
                <a:spcPts val="300"/>
              </a:spcAft>
            </a:pPr>
            <a:r>
              <a:rPr lang="en-US" sz="900" dirty="0">
                <a:solidFill>
                  <a:srgbClr val="888888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主导搭建供应商管理体系，建立分级管理的优质供应商资源池</a:t>
            </a:r>
            <a:endParaRPr lang="en-US" sz="900" dirty="0"/>
          </a:p>
          <a:p>
            <a:pPr>
              <a:spcAft>
                <a:spcPts val="300"/>
              </a:spcAft>
            </a:pPr>
            <a:r>
              <a:rPr lang="en-US" sz="900" dirty="0">
                <a:solidFill>
                  <a:srgbClr val="888888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规划并实施平台化运营方案，推进自有品牌建设</a:t>
            </a:r>
            <a:endParaRPr lang="en-US" sz="900" dirty="0"/>
          </a:p>
          <a:p>
            <a:pPr>
              <a:spcAft>
                <a:spcPts val="300"/>
              </a:spcAft>
            </a:pPr>
            <a:r>
              <a:rPr lang="en-US" sz="900" dirty="0">
                <a:solidFill>
                  <a:srgbClr val="888888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成功签约头部主播开展直播电商带货合作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856732" y="1124712"/>
            <a:ext cx="118872" cy="1188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85916" y="1051560"/>
            <a:ext cx="536295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有偶健康科技（深圳）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185916" y="1307592"/>
            <a:ext cx="536295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产品负责人  ·  2024.08 — 2025.03  ·  深圳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185916" y="1527048"/>
            <a:ext cx="4558513" cy="9144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85916" y="1581912"/>
            <a:ext cx="5362956" cy="1261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spcAft>
                <a:spcPts val="300"/>
              </a:spcAft>
            </a:pPr>
            <a:r>
              <a:rPr lang="en-US" sz="900" dirty="0">
                <a:solidFill>
                  <a:srgbClr val="888888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主导完成5个核心商标注册，构建商标防御体系</a:t>
            </a:r>
            <a:endParaRPr lang="en-US" sz="900" dirty="0"/>
          </a:p>
          <a:p>
            <a:pPr>
              <a:spcAft>
                <a:spcPts val="300"/>
              </a:spcAft>
            </a:pPr>
            <a:r>
              <a:rPr lang="en-US" sz="900" dirty="0">
                <a:solidFill>
                  <a:srgbClr val="888888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建立竞品三维分析模型，完成20+竞品技术参数拆解</a:t>
            </a:r>
            <a:endParaRPr lang="en-US" sz="900" dirty="0"/>
          </a:p>
          <a:p>
            <a:pPr>
              <a:spcAft>
                <a:spcPts val="300"/>
              </a:spcAft>
            </a:pPr>
            <a:r>
              <a:rPr lang="en-US" sz="900" dirty="0">
                <a:solidFill>
                  <a:srgbClr val="888888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主导供应链0→1搭建，完成12家核心供应商准入审核</a:t>
            </a:r>
            <a:endParaRPr lang="en-US" sz="900" dirty="0"/>
          </a:p>
          <a:p>
            <a:pPr>
              <a:spcAft>
                <a:spcPts val="300"/>
              </a:spcAft>
            </a:pPr>
            <a:r>
              <a:rPr lang="en-US" sz="900" dirty="0">
                <a:solidFill>
                  <a:srgbClr val="888888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推动延时喷剂/避孕套产品线按期上市，完成药监局广告审核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62940" y="3822192"/>
            <a:ext cx="118872" cy="1188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3749040"/>
            <a:ext cx="536295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深圳市万生堂实业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05840" y="4005072"/>
            <a:ext cx="536295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冈本产品开发负责人  ·  2019.08 — 2024.08  ·  深圳·福田区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1005840" y="4224528"/>
            <a:ext cx="4558513" cy="9144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4279392"/>
            <a:ext cx="5362956" cy="1261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spcAft>
                <a:spcPts val="300"/>
              </a:spcAft>
            </a:pPr>
            <a:r>
              <a:rPr lang="en-US" sz="900" dirty="0">
                <a:solidFill>
                  <a:srgbClr val="888888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主导冈本避孕套超级爆品开发：冰粒粒、滑粒粒、超薄粉润、003东京限定款、003玻尿酸、黄金超薄等，累计销售额10亿元+</a:t>
            </a:r>
            <a:endParaRPr lang="en-US" sz="900" dirty="0"/>
          </a:p>
          <a:p>
            <a:pPr>
              <a:spcAft>
                <a:spcPts val="300"/>
              </a:spcAft>
            </a:pPr>
            <a:r>
              <a:rPr lang="en-US" sz="900" dirty="0">
                <a:solidFill>
                  <a:srgbClr val="888888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主导情趣玩具爆款矩阵：山重奏震动棒、小雨滴跳蛋、独乐丸等，累计2000万元+</a:t>
            </a:r>
            <a:endParaRPr lang="en-US" sz="900" dirty="0"/>
          </a:p>
          <a:p>
            <a:pPr>
              <a:spcAft>
                <a:spcPts val="300"/>
              </a:spcAft>
            </a:pPr>
            <a:r>
              <a:rPr lang="en-US" sz="900" dirty="0">
                <a:solidFill>
                  <a:srgbClr val="888888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主导润滑液产品线：003玻尿酸小粉条、风火山林润滑液（「火」销量10万支+），累计500万元+</a:t>
            </a:r>
            <a:endParaRPr lang="en-US" sz="900" dirty="0"/>
          </a:p>
          <a:p>
            <a:pPr>
              <a:spcAft>
                <a:spcPts val="300"/>
              </a:spcAft>
            </a:pPr>
            <a:r>
              <a:rPr lang="en-US" sz="900" dirty="0">
                <a:solidFill>
                  <a:srgbClr val="888888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主导功能食品、日化、保健品多品类GTM全链路，成功落地3个品类进口自有品牌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856732" y="3822192"/>
            <a:ext cx="118872" cy="1188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85916" y="3749040"/>
            <a:ext cx="536295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东西贸易（上海浦东新区）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85916" y="4005072"/>
            <a:ext cx="536295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大客户销售经理  ·  2017.03 — 2019.08  ·  北京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185916" y="4224528"/>
            <a:ext cx="4558513" cy="9144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85916" y="4279392"/>
            <a:ext cx="5362956" cy="1261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spcAft>
                <a:spcPts val="300"/>
              </a:spcAft>
            </a:pPr>
            <a:r>
              <a:rPr lang="en-US" sz="900" dirty="0">
                <a:solidFill>
                  <a:srgbClr val="888888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主营功率半导体碳化硅外延片、酚醛树脂等B2B销售</a:t>
            </a:r>
            <a:endParaRPr lang="en-US" sz="900" dirty="0"/>
          </a:p>
          <a:p>
            <a:pPr>
              <a:spcAft>
                <a:spcPts val="300"/>
              </a:spcAft>
            </a:pPr>
            <a:r>
              <a:rPr lang="en-US" sz="900" dirty="0">
                <a:solidFill>
                  <a:srgbClr val="888888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2018年度个人负责业务总销售额276万美元</a:t>
            </a:r>
            <a:endParaRPr lang="en-US" sz="900" dirty="0"/>
          </a:p>
          <a:p>
            <a:pPr>
              <a:spcAft>
                <a:spcPts val="300"/>
              </a:spcAft>
            </a:pPr>
            <a:r>
              <a:rPr lang="en-US" sz="900" dirty="0">
                <a:solidFill>
                  <a:srgbClr val="888888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2019年1-5月业务销售额418万美元</a:t>
            </a:r>
            <a:endParaRPr lang="en-US" sz="900" dirty="0"/>
          </a:p>
          <a:p>
            <a:pPr>
              <a:spcAft>
                <a:spcPts val="300"/>
              </a:spcAft>
            </a:pPr>
            <a:r>
              <a:rPr lang="en-US" sz="900" dirty="0">
                <a:solidFill>
                  <a:srgbClr val="888888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陪同日方客户参加商务会谈，负责商务翻译及谈判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141171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444444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项目作品集  /  PORTFOLIO  ·  PART 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0F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冈本业务线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3681984" cy="5029200"/>
          </a:xfrm>
          <a:prstGeom prst="rect">
            <a:avLst/>
          </a:prstGeom>
          <a:solidFill>
            <a:srgbClr val="111111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115568"/>
            <a:ext cx="3681984" cy="36576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1225296"/>
            <a:ext cx="33528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0F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冈本 × 避孕套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" y="1572768"/>
            <a:ext cx="33528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超级爆品矩阵  ·  10亿级销售额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67512" y="1792224"/>
            <a:ext cx="3352800" cy="9144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" y="1847088"/>
            <a:ext cx="3352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冰粒粒  ·  滑粒粒  ·  超薄粉润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003东京限定  ·  003玻尿酸  ·  黄金超薄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67512" y="5733288"/>
            <a:ext cx="3352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18CF8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累计销售额  ¥10亿+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67784" y="1115568"/>
            <a:ext cx="3681984" cy="5029200"/>
          </a:xfrm>
          <a:prstGeom prst="rect">
            <a:avLst/>
          </a:prstGeom>
          <a:solidFill>
            <a:srgbClr val="111111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67784" y="1115568"/>
            <a:ext cx="3681984" cy="36576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32376" y="1225296"/>
            <a:ext cx="33528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0F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冈本 × 情趣玩具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32376" y="1572768"/>
            <a:ext cx="33528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震动棒  ·  跳蛋  ·  独乐系列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32376" y="1792224"/>
            <a:ext cx="3352800" cy="9144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32376" y="1847088"/>
            <a:ext cx="3352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山重奏震动棒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小雨滴跳蛋  ·  独乐丸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32376" y="5733288"/>
            <a:ext cx="3352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0A5F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累计销售额  ¥2000万+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232648" y="1115568"/>
            <a:ext cx="3681984" cy="5029200"/>
          </a:xfrm>
          <a:prstGeom prst="rect">
            <a:avLst/>
          </a:prstGeom>
          <a:solidFill>
            <a:srgbClr val="111111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32648" y="1115568"/>
            <a:ext cx="3681984" cy="36576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97240" y="1225296"/>
            <a:ext cx="33528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0F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冈本 × 润滑液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397240" y="1572768"/>
            <a:ext cx="33528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玻尿酸小粉条  ·  风火山林系列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397240" y="1792224"/>
            <a:ext cx="3352800" cy="9144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97240" y="1847088"/>
            <a:ext cx="3352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003玻尿酸小粉条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风火山林润滑液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397240" y="5733288"/>
            <a:ext cx="3352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DE8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累计销售额  ¥500万+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141171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444444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项目作品集  /  PORTFOLIO  ·  PART 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0F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其他品牌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3681984" cy="5029200"/>
          </a:xfrm>
          <a:prstGeom prst="rect">
            <a:avLst/>
          </a:prstGeom>
          <a:solidFill>
            <a:srgbClr val="111111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115568"/>
            <a:ext cx="3681984" cy="365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1225296"/>
            <a:ext cx="33528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0F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UZZE 优至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" y="1572768"/>
            <a:ext cx="33528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生殖健康品牌0→1孵化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67512" y="1792224"/>
            <a:ext cx="3352800" cy="9144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" y="1847088"/>
            <a:ext cx="3352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延时喷剂  ·  避孕套套装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67512" y="5733288"/>
            <a:ext cx="3352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成功完成药监局备案上市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67784" y="1115568"/>
            <a:ext cx="3681984" cy="5029200"/>
          </a:xfrm>
          <a:prstGeom prst="rect">
            <a:avLst/>
          </a:prstGeom>
          <a:solidFill>
            <a:srgbClr val="111111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67784" y="1115568"/>
            <a:ext cx="3681984" cy="36576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32376" y="1225296"/>
            <a:ext cx="33528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0F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Up X Code 保健品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32376" y="1572768"/>
            <a:ext cx="33528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NMN9600  ·  男性保健系列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32376" y="1792224"/>
            <a:ext cx="3352800" cy="9144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32376" y="1847088"/>
            <a:ext cx="3352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跨境保健品上市项目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32376" y="5733288"/>
            <a:ext cx="3352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BBF24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新零售渠道成功销售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232648" y="1115568"/>
            <a:ext cx="3681984" cy="5029200"/>
          </a:xfrm>
          <a:prstGeom prst="rect">
            <a:avLst/>
          </a:prstGeom>
          <a:solidFill>
            <a:srgbClr val="111111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32648" y="1115568"/>
            <a:ext cx="3681984" cy="36576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97240" y="1225296"/>
            <a:ext cx="33528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0F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日本日化 OEM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397240" y="1572768"/>
            <a:ext cx="33528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日本供应链全链路管理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397240" y="1792224"/>
            <a:ext cx="3352800" cy="9144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97240" y="1847088"/>
            <a:ext cx="3352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化妆品  ·  口腔  ·  健康品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397240" y="5733288"/>
            <a:ext cx="3352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D399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成功落地3个品类进口品牌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141171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444444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专业技能  /  SKILLS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0F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核心能力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051560"/>
            <a:ext cx="11411712" cy="10973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88720"/>
            <a:ext cx="362102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产品管理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463040"/>
            <a:ext cx="274320" cy="228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572768"/>
            <a:ext cx="955548" cy="274320"/>
          </a:xfrm>
          <a:prstGeom prst="rect">
            <a:avLst/>
          </a:prstGeom>
          <a:solidFill>
            <a:srgbClr val="141414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572768"/>
            <a:ext cx="95554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GTM战略规划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513332" y="1572768"/>
            <a:ext cx="1060704" cy="274320"/>
          </a:xfrm>
          <a:prstGeom prst="rect">
            <a:avLst/>
          </a:prstGeom>
          <a:solidFill>
            <a:srgbClr val="141414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13332" y="1572768"/>
            <a:ext cx="106070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产品生命周期管理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628900" y="1572768"/>
            <a:ext cx="850392" cy="274320"/>
          </a:xfrm>
          <a:prstGeom prst="rect">
            <a:avLst/>
          </a:prstGeom>
          <a:solidFill>
            <a:srgbClr val="141414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28900" y="1572768"/>
            <a:ext cx="85039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新品上市管理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02920" y="1901952"/>
            <a:ext cx="731520" cy="274320"/>
          </a:xfrm>
          <a:prstGeom prst="rect">
            <a:avLst/>
          </a:prstGeom>
          <a:solidFill>
            <a:srgbClr val="141414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190195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产品提案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289304" y="1901952"/>
            <a:ext cx="731520" cy="274320"/>
          </a:xfrm>
          <a:prstGeom prst="rect">
            <a:avLst/>
          </a:prstGeom>
          <a:solidFill>
            <a:srgbClr val="141414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89304" y="190195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竞品分析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075688" y="1901952"/>
            <a:ext cx="731520" cy="274320"/>
          </a:xfrm>
          <a:prstGeom prst="rect">
            <a:avLst/>
          </a:prstGeom>
          <a:solidFill>
            <a:srgbClr val="141414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75688" y="190195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用户调研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398264" y="1188720"/>
            <a:ext cx="362102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供应链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98264" y="1463040"/>
            <a:ext cx="274320" cy="228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98264" y="1572768"/>
            <a:ext cx="1060704" cy="274320"/>
          </a:xfrm>
          <a:prstGeom prst="rect">
            <a:avLst/>
          </a:prstGeom>
          <a:solidFill>
            <a:srgbClr val="141414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98264" y="1572768"/>
            <a:ext cx="106070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OEM供应商寻源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513832" y="1572768"/>
            <a:ext cx="955548" cy="274320"/>
          </a:xfrm>
          <a:prstGeom prst="rect">
            <a:avLst/>
          </a:prstGeom>
          <a:solidFill>
            <a:srgbClr val="141414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13832" y="1572768"/>
            <a:ext cx="95554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供应商管理体系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524244" y="1572768"/>
            <a:ext cx="745236" cy="274320"/>
          </a:xfrm>
          <a:prstGeom prst="rect">
            <a:avLst/>
          </a:prstGeom>
          <a:solidFill>
            <a:srgbClr val="141414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24244" y="1572768"/>
            <a:ext cx="74523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日本供应链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398264" y="1901952"/>
            <a:ext cx="850392" cy="274320"/>
          </a:xfrm>
          <a:prstGeom prst="rect">
            <a:avLst/>
          </a:prstGeom>
          <a:solidFill>
            <a:srgbClr val="141414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98264" y="1901952"/>
            <a:ext cx="85039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质量标准制定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303520" y="1901952"/>
            <a:ext cx="731520" cy="274320"/>
          </a:xfrm>
          <a:prstGeom prst="rect">
            <a:avLst/>
          </a:prstGeom>
          <a:solidFill>
            <a:srgbClr val="141414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03520" y="190195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成本谈判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089904" y="1901952"/>
            <a:ext cx="731520" cy="274320"/>
          </a:xfrm>
          <a:prstGeom prst="rect">
            <a:avLst/>
          </a:prstGeom>
          <a:solidFill>
            <a:srgbClr val="141414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89904" y="190195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交付管理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8293608" y="1188720"/>
            <a:ext cx="362102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品牌营销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293608" y="1463040"/>
            <a:ext cx="274320" cy="228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293608" y="1572768"/>
            <a:ext cx="731520" cy="274320"/>
          </a:xfrm>
          <a:prstGeom prst="rect">
            <a:avLst/>
          </a:prstGeom>
          <a:solidFill>
            <a:srgbClr val="141414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93608" y="1572768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品牌建设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9079992" y="1572768"/>
            <a:ext cx="850392" cy="274320"/>
          </a:xfrm>
          <a:prstGeom prst="rect">
            <a:avLst/>
          </a:prstGeom>
          <a:solidFill>
            <a:srgbClr val="141414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079992" y="1572768"/>
            <a:ext cx="85039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市场传播策略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9985248" y="1572768"/>
            <a:ext cx="731520" cy="274320"/>
          </a:xfrm>
          <a:prstGeom prst="rect">
            <a:avLst/>
          </a:prstGeom>
          <a:solidFill>
            <a:srgbClr val="141414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985248" y="1572768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内容营销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10771632" y="1572768"/>
            <a:ext cx="731520" cy="274320"/>
          </a:xfrm>
          <a:prstGeom prst="rect">
            <a:avLst/>
          </a:prstGeom>
          <a:solidFill>
            <a:srgbClr val="141414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771632" y="1572768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数字营销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8293608" y="1901952"/>
            <a:ext cx="731520" cy="274320"/>
          </a:xfrm>
          <a:prstGeom prst="rect">
            <a:avLst/>
          </a:prstGeom>
          <a:solidFill>
            <a:srgbClr val="141414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293608" y="190195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销售赋能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9079992" y="1901952"/>
            <a:ext cx="731520" cy="274320"/>
          </a:xfrm>
          <a:prstGeom prst="rect">
            <a:avLst/>
          </a:prstGeom>
          <a:solidFill>
            <a:srgbClr val="141414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079992" y="190195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竞争情报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502920" y="5074920"/>
            <a:ext cx="11411712" cy="10973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2920" y="5193792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行业领域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463040" y="5193792"/>
            <a:ext cx="1058875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成人用品/两性健康  ·  功能食品/保健品  ·  化妆品/日化  ·  医疗器械  ·  快消品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02920" y="5504688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语言能力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463040" y="5504688"/>
            <a:ext cx="1058875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日语N1（商务洽谈）  ·  普通话（母语）  ·  英语（基础沟通）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914400"/>
            <a:ext cx="7315200" cy="7315200"/>
          </a:xfrm>
          <a:prstGeom prst="ellipse">
            <a:avLst/>
          </a:prstGeom>
          <a:solidFill>
            <a:srgbClr val="2563EB">
              <a:alpha val="8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1141171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444444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联系方式  /  CONTACT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731520"/>
            <a:ext cx="73152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0F0F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期待合作  ·  共创爆款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502920" y="1664208"/>
            <a:ext cx="2011680" cy="347472"/>
          </a:xfrm>
          <a:prstGeom prst="rect">
            <a:avLst/>
          </a:prstGeom>
          <a:solidFill>
            <a:srgbClr val="052E16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2648" y="1801368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664208"/>
            <a:ext cx="166420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C55E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在职，急寻新机会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2176272"/>
            <a:ext cx="11411712" cy="10973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331720"/>
            <a:ext cx="640080" cy="347472"/>
          </a:xfrm>
          <a:prstGeom prst="rect">
            <a:avLst/>
          </a:prstGeom>
          <a:solidFill>
            <a:srgbClr val="0D1F4C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331720"/>
            <a:ext cx="640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电话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252728" y="2331720"/>
            <a:ext cx="45720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0F0F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13810359882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02920" y="3044952"/>
            <a:ext cx="640080" cy="347472"/>
          </a:xfrm>
          <a:prstGeom prst="rect">
            <a:avLst/>
          </a:prstGeom>
          <a:solidFill>
            <a:srgbClr val="0D1F4C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044952"/>
            <a:ext cx="640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邮箱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252728" y="3044952"/>
            <a:ext cx="45720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0F0F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89408048@qq.com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02920" y="3758184"/>
            <a:ext cx="640080" cy="347472"/>
          </a:xfrm>
          <a:prstGeom prst="rect">
            <a:avLst/>
          </a:prstGeom>
          <a:solidFill>
            <a:srgbClr val="0D1F4C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758184"/>
            <a:ext cx="640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微信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252728" y="3758184"/>
            <a:ext cx="45720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0F0F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13810359882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02920" y="4471416"/>
            <a:ext cx="640080" cy="347472"/>
          </a:xfrm>
          <a:prstGeom prst="rect">
            <a:avLst/>
          </a:prstGeom>
          <a:solidFill>
            <a:srgbClr val="0D1F4C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471416"/>
            <a:ext cx="640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城市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252728" y="4471416"/>
            <a:ext cx="45720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0F0F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深圳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531352" y="731520"/>
            <a:ext cx="3291840" cy="5303520"/>
          </a:xfrm>
          <a:prstGeom prst="rect">
            <a:avLst/>
          </a:prstGeom>
          <a:solidFill>
            <a:srgbClr val="0C0C0C"/>
          </a:solidFill>
          <a:ln w="12700">
            <a:solidFill>
              <a:srgbClr val="18181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22792" y="1188720"/>
            <a:ext cx="310896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563EB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¥10亿+</a:t>
            </a:r>
            <a:endParaRPr 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8622792" y="228600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冈本业务线累计销售额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079992" y="2697480"/>
            <a:ext cx="2194560" cy="13716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22792" y="2880360"/>
            <a:ext cx="31089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0F0F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9年</a:t>
            </a:r>
            <a:endParaRPr lang="en-US" sz="3600" dirty="0"/>
          </a:p>
        </p:txBody>
      </p:sp>
      <p:sp>
        <p:nvSpPr>
          <p:cNvPr id="27" name="Text 25"/>
          <p:cNvSpPr/>
          <p:nvPr/>
        </p:nvSpPr>
        <p:spPr>
          <a:xfrm>
            <a:off x="8622792" y="3611880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行业深耕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079992" y="4005072"/>
            <a:ext cx="2194560" cy="13716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22792" y="4160520"/>
            <a:ext cx="31089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0F0F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30+款</a:t>
            </a:r>
            <a:endParaRPr lang="en-US" sz="3400" dirty="0"/>
          </a:p>
        </p:txBody>
      </p:sp>
      <p:sp>
        <p:nvSpPr>
          <p:cNvPr id="30" name="Text 28"/>
          <p:cNvSpPr/>
          <p:nvPr/>
        </p:nvSpPr>
        <p:spPr>
          <a:xfrm>
            <a:off x="8622792" y="4892040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成功上市产品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50505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6446520"/>
            <a:ext cx="1141171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刘威  ·  GTM产品经理  ·  深圳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1754</Words>
  <Application>WPS 演示</Application>
  <PresentationFormat>On-screen Show (16:9)</PresentationFormat>
  <Paragraphs>249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2" baseType="lpstr">
      <vt:lpstr>Arial</vt:lpstr>
      <vt:lpstr>宋体</vt:lpstr>
      <vt:lpstr>Wingdings</vt:lpstr>
      <vt:lpstr>Arial</vt:lpstr>
      <vt:lpstr>Arial</vt:lpstr>
      <vt:lpstr>汉仪书宋二KW</vt:lpstr>
      <vt:lpstr>宋体</vt:lpstr>
      <vt:lpstr>Calibri</vt:lpstr>
      <vt:lpstr>Helvetica Neue</vt:lpstr>
      <vt:lpstr>微软雅黑</vt:lpstr>
      <vt:lpstr>汉仪旗黑</vt:lpstr>
      <vt:lpstr>Arial Unicode MS</vt:lpstr>
      <vt:lpstr>等线</vt:lpstr>
      <vt:lpstr>汉仪中等线KW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刘威 · GTM产品经理作品集</dc:title>
  <dc:creator>Liu Wei</dc:creator>
  <dc:subject>PptxGenJS Presentation</dc:subject>
  <cp:lastModifiedBy>Liuwei</cp:lastModifiedBy>
  <cp:revision>2</cp:revision>
  <dcterms:created xsi:type="dcterms:W3CDTF">2026-04-24T04:26:51Z</dcterms:created>
  <dcterms:modified xsi:type="dcterms:W3CDTF">2026-04-24T04:26:51Z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3F9CC965E206185E0BF1EA69F62F57CE_42</vt:lpwstr>
  </property>
  <property fmtid="{D5CDD505-2E9C-101B-9397-08002B2CF9AE}" pid="3" name="KSOProductBuildVer">
    <vt:lpwstr>2052-12.1.24031.24031</vt:lpwstr>
  </property>
</Properties>
</file>